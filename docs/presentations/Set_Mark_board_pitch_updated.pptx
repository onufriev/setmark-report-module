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10d87d587f4c3a" /><Relationship Type="http://schemas.openxmlformats.org/officeDocument/2006/relationships/extended-properties" Target="/docProps/app.xml" Id="R899af81e5627407f" /><Relationship Type="http://schemas.openxmlformats.org/officeDocument/2006/relationships/officeDocument" Target="/ppt/presentation.xml" Id="R0136238ef65749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ba6faf2fcf46b8"/>
  </p:sldMasterIdLst>
  <p:notesMasterIdLst>
    <p:notesMasterId xmlns:r="http://schemas.openxmlformats.org/officeDocument/2006/relationships" r:id="R26849b4e51f740e2"/>
  </p:notesMasterIdLst>
  <p:sldIdLst>
    <p:sldId xmlns:r="http://schemas.openxmlformats.org/officeDocument/2006/relationships" id="256" r:id="R232e53aea07a4c49"/>
    <p:sldId xmlns:r="http://schemas.openxmlformats.org/officeDocument/2006/relationships" id="257" r:id="Re49e7df7a4c24dc6"/>
    <p:sldId xmlns:r="http://schemas.openxmlformats.org/officeDocument/2006/relationships" id="258" r:id="Rdc238aea3aa542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31e41abed44ca8" /><Relationship Type="http://schemas.openxmlformats.org/officeDocument/2006/relationships/slideMaster" Target="/ppt/slideMasters/slideMaster1.xml" Id="R75ba6faf2fcf46b8" /><Relationship Type="http://schemas.openxmlformats.org/officeDocument/2006/relationships/notesMaster" Target="/ppt/notesMasters/notesMaster1.xml" Id="R26849b4e51f740e2" /><Relationship Type="http://schemas.openxmlformats.org/officeDocument/2006/relationships/presProps" Target="/ppt/presProps.xml" Id="R7ab6b184f8b0407e" /><Relationship Type="http://schemas.openxmlformats.org/officeDocument/2006/relationships/tableStyles" Target="/ppt/tableStyles.xml" Id="R3ace3f2f65374b04" /><Relationship Type="http://schemas.openxmlformats.org/officeDocument/2006/relationships/slide" Target="/ppt/slides/slide1.xml" Id="R232e53aea07a4c49" /><Relationship Type="http://schemas.openxmlformats.org/officeDocument/2006/relationships/slide" Target="/ppt/slides/slide2.xml" Id="Re49e7df7a4c24dc6" /><Relationship Type="http://schemas.openxmlformats.org/officeDocument/2006/relationships/slide" Target="/ppt/slides/slide3.xml" Id="Rdc238aea3aa542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15140d65144f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df1bc5aec444d8" /><Relationship Type="http://schemas.openxmlformats.org/officeDocument/2006/relationships/notesMaster" Target="/ppt/notesMasters/notesMaster1.xml" Id="R129b92bb6ba14c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52cf996ad04e84" /><Relationship Type="http://schemas.openxmlformats.org/officeDocument/2006/relationships/notesMaster" Target="/ppt/notesMasters/notesMaster1.xml" Id="Rb0f84b2c781b4c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82237671304cfd" /><Relationship Type="http://schemas.openxmlformats.org/officeDocument/2006/relationships/notesMaster" Target="/ppt/notesMasters/notesMaster1.xml" Id="R712449e4dd0243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requirements/01-base/product-context.md</a:t>
            </a:r>
          </a:p>
          <a:p xmlns:a="http://schemas.openxmlformats.org/drawingml/2006/main">
            <a:r>
              <a:t>- requirements/01-base/goals-and-scope.md</a:t>
            </a:r>
          </a:p>
          <a:p xmlns:a="http://schemas.openxmlformats.org/drawingml/2006/main">
            <a:r>
              <a:t>- visual-prototype/app/index.html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requirements/01-base/sales-objects.md</a:t>
            </a:r>
          </a:p>
          <a:p xmlns:a="http://schemas.openxmlformats.org/drawingml/2006/main">
            <a:r>
              <a:t>- requirements/02-system/system-requirements.md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requirements/01-base/market-assessment.md</a:t>
            </a:r>
          </a:p>
          <a:p xmlns:a="http://schemas.openxmlformats.org/drawingml/2006/main">
            <a:r>
              <a:t>- requirements/01-base/goals-and-scope.md</a:t>
            </a:r>
          </a:p>
          <a:p xmlns:a="http://schemas.openxmlformats.org/drawingml/2006/main">
            <a:r>
              <a:t>- Расчёт: 423 новые сети; 6 143 оценочных магазина; цена 4 000 ₽ с НДС за тип лицензии в год; принятие 80%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a4c67d6914f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47009104e04f9f" /><Relationship Type="http://schemas.openxmlformats.org/officeDocument/2006/relationships/slideLayout" Target="/ppt/slideLayouts/slideLayout1.xml" Id="R5e2a17ab293040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2a17ab293040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a0e5e87934abd" /><Relationship Type="http://schemas.openxmlformats.org/officeDocument/2006/relationships/image" Target="/ppt/media/image.png" Id="Rf6418fe05ed44fb6" /><Relationship Type="http://schemas.openxmlformats.org/officeDocument/2006/relationships/hyperlink" Target="https://htmlpreview.github.io/?https://raw.githubusercontent.com/onufriev/setmark-report-module/main/visual-prototype/app/index.html#overview" TargetMode="External" Id="R52c059a6082347c4" /><Relationship Type="http://schemas.openxmlformats.org/officeDocument/2006/relationships/image" Target="/ppt/media/image.jpeg" Id="R060f229cd71b4135" /><Relationship Type="http://schemas.openxmlformats.org/officeDocument/2006/relationships/notesSlide" Target="/ppt/notesSlides/notesSlide1.xml" Id="Rb2c969fcf6bd44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7a2df64dc4503" /><Relationship Type="http://schemas.openxmlformats.org/officeDocument/2006/relationships/image" Target="/ppt/media/image.png" Id="R4ac7cdaa38514448" /><Relationship Type="http://schemas.openxmlformats.org/officeDocument/2006/relationships/hyperlink" Target="https://htmlpreview.github.io/?https://raw.githubusercontent.com/onufriev/setmark-report-module/main/visual-prototype/app/index.html#overview" TargetMode="External" Id="R16787f6446fd425d" /><Relationship Type="http://schemas.openxmlformats.org/officeDocument/2006/relationships/image" Target="/ppt/media/image.jpeg" Id="Rfe4e1ff014914fbc" /><Relationship Type="http://schemas.openxmlformats.org/officeDocument/2006/relationships/notesSlide" Target="/ppt/notesSlides/notesSlide2.xml" Id="Re9d73ac3519d47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2ef2c85d448a9" /><Relationship Type="http://schemas.openxmlformats.org/officeDocument/2006/relationships/image" Target="/ppt/media/image.png" Id="R00cf92faa00b4b07" /><Relationship Type="http://schemas.openxmlformats.org/officeDocument/2006/relationships/hyperlink" Target="https://htmlpreview.github.io/?https://raw.githubusercontent.com/onufriev/setmark-report-module/main/visual-prototype/app/index.html#overview" TargetMode="External" Id="R6c1f7db0529e4f5d" /><Relationship Type="http://schemas.openxmlformats.org/officeDocument/2006/relationships/image" Target="/ppt/media/image.jpeg" Id="Rb600b92d236041ec" /><Relationship Type="http://schemas.openxmlformats.org/officeDocument/2006/relationships/notesSlide" Target="/ppt/notesSlides/notesSlide3.xml" Id="Rfac575bc38404b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18fe05ed44fb6"/>
          <a:stretch xmlns:a="http://schemas.openxmlformats.org/drawingml/2006/main"/>
        </p:blipFill>
        <p:spPr>
          <a:xfrm xmlns:a="http://schemas.openxmlformats.org/drawingml/2006/main">
            <a:off x="865156" y="333375"/>
            <a:ext cx="1974818" cy="723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9F2D6-BF5D-4FEA-94CB-EE57AC89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76250"/>
            <a:ext cx="2505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861C"/>
                </a:solidFill>
              </a:defRPr>
            </a:pPr>
            <a:r>
              <a:rPr sz="1125" b="1">
                <a:solidFill>
                  <a:srgbClr val="FF861C"/>
                </a:solidFill>
              </a:rPr>
              <a:t>ПРОДУКТ В РАЗРАБОТКЕ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B5A197-24BE-412E-8CF5-660075DC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42424C"/>
                </a:solidFill>
              </a:defRPr>
            </a:pPr>
            <a:r>
              <a:rPr sz="3150" b="1">
                <a:solidFill>
                  <a:srgbClr val="42424C"/>
                </a:solidFill>
              </a:rPr>
              <a:t>Set Mark превращает нарушения в действия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35E66-72BC-4350-A35E-95797B08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F737C"/>
                </a:solidFill>
              </a:defRPr>
            </a:pPr>
            <a:r>
              <a:rPr sz="1575" b="0">
                <a:solidFill>
                  <a:srgbClr val="6F737C"/>
                </a:solidFill>
              </a:rPr>
              <a:t>Функция в разработке для RU-клиентов SetRetail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830C5-4AA8-4013-B1BB-B6F3FB9D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861C"/>
                </a:solidFill>
              </a:defRPr>
            </a:pPr>
            <a:r>
              <a:rPr sz="1050" b="1">
                <a:solidFill>
                  <a:srgbClr val="FF861C"/>
                </a:solidFill>
              </a:rPr>
              <a:t>ЦЕННОСТЬ ДЛЯ КЛИЕНТА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11D41-3E40-4341-9F73-E2004E15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2424C"/>
                </a:solidFill>
              </a:defRPr>
            </a:pPr>
            <a:r>
              <a:rPr sz="1875" b="1">
                <a:solidFill>
                  <a:srgbClr val="42424C"/>
                </a:solidFill>
              </a:rPr>
              <a:t>Раньше увидеть риск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A5FEF-FCC3-4B21-80B1-6D6164A3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737C"/>
                </a:solidFill>
              </a:defRPr>
            </a:pPr>
            <a:r>
              <a:rPr sz="1425" b="0">
                <a:solidFill>
                  <a:srgbClr val="6F737C"/>
                </a:solidFill>
              </a:rPr>
              <a:t>Отклонения «Честного знака» собраны в едином обзоре сети.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03E74-2FC1-4B93-9F10-662C8D41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72348-9E30-4C34-BFDC-17304AC3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2424C"/>
                </a:solidFill>
              </a:defRPr>
            </a:pPr>
            <a:r>
              <a:rPr sz="1875" b="1">
                <a:solidFill>
                  <a:srgbClr val="42424C"/>
                </a:solidFill>
              </a:rPr>
              <a:t>Понять, что исправить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121A0-5F76-4A03-BD0E-50FE79B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424C"/>
                </a:solidFill>
              </a:defRPr>
            </a:pPr>
            <a:r>
              <a:rPr sz="1425" b="0">
                <a:solidFill>
                  <a:srgbClr val="42424C"/>
                </a:solidFill>
              </a:rPr>
              <a:t>Система показывает причину, критичность и рекомендуемое действие.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D5714-815D-4333-8544-03553670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861C"/>
                </a:solidFill>
              </a:defRPr>
            </a:pPr>
            <a:r>
              <a:rPr sz="1425" b="1">
                <a:solidFill>
                  <a:srgbClr val="FF861C"/>
                </a:solidFill>
                <a:hlinkClick xmlns:r="http://schemas.openxmlformats.org/officeDocument/2006/relationships" r:id="R52c059a6082347c4"/>
              </a:rPr>
              <a:t>Открыть кликабельный прототип  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C0B26-E110-4DDB-B4EB-47012383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66950"/>
            <a:ext cx="6457950" cy="3638550"/>
          </a:xfrm>
          <a:prstGeom xmlns:a="http://schemas.openxmlformats.org/drawingml/2006/main" prst="roundRect">
            <a:avLst>
              <a:gd name="adj" fmla="val 2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f229cd71b4135"/>
          <a:srcRect xmlns:a="http://schemas.openxmlformats.org/drawingml/2006/main" l="0" t="886" r="0" b="8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4450" y="2343150"/>
            <a:ext cx="6305550" cy="3486150"/>
          </a:xfrm>
          <a:prstGeom xmlns:a="http://schemas.openxmlformats.org/drawingml/2006/main" prst="roundRect">
            <a:avLst>
              <a:gd name="adj" fmla="val 2186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9F20F-2A84-4E7F-9F84-95DF4640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F0C2E-5C3D-403B-AF29-EA9B3693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Что получает клиент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340D7-C117-4DBD-8B0A-3A113A76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Подключение — через ЭЦП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C3D85-F7C3-4107-B4E4-CCC10924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103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Обзор сети • критические инциденты • причины • рекомендации • аналитика</a:t>
            </a:r>
          </a:p>
        </p:txBody>
      </p:sp>
    </p:spTree>
    <p:extLst>
      <p:ext uri="{BB962C8B-B14F-4D97-AF65-F5344CB8AC3E}">
        <p14:creationId xmlns:p14="http://schemas.microsoft.com/office/powerpoint/2010/main" val="771495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7cdaa38514448"/>
          <a:stretch xmlns:a="http://schemas.openxmlformats.org/drawingml/2006/main"/>
        </p:blipFill>
        <p:spPr>
          <a:xfrm xmlns:a="http://schemas.openxmlformats.org/drawingml/2006/main">
            <a:off x="865156" y="333375"/>
            <a:ext cx="1974818" cy="723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9F2D6-BF5D-4FEA-94CB-EE57AC89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76250"/>
            <a:ext cx="2505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861C"/>
                </a:solidFill>
              </a:defRPr>
            </a:pPr>
            <a:r>
              <a:rPr sz="1125" b="1">
                <a:solidFill>
                  <a:srgbClr val="FF861C"/>
                </a:solidFill>
              </a:rPr>
              <a:t>ПРОДУКТ В РАЗРАБОТКЕ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B5A197-24BE-412E-8CF5-660075DC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42424C"/>
                </a:solidFill>
              </a:defRPr>
            </a:pPr>
            <a:r>
              <a:rPr sz="3150" b="1">
                <a:solidFill>
                  <a:srgbClr val="42424C"/>
                </a:solidFill>
              </a:rPr>
              <a:t>Функция усиливает продажу коробочного Set Mark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35E66-72BC-4350-A35E-95797B08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F737C"/>
                </a:solidFill>
              </a:defRPr>
            </a:pPr>
            <a:r>
              <a:rPr sz="1575" b="0">
                <a:solidFill>
                  <a:srgbClr val="6F737C"/>
                </a:solidFill>
              </a:rPr>
              <a:t>Отдельной лицензии и отдельной цены для функции нет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830C5-4AA8-4013-B1BB-B6F3FB9D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861C"/>
                </a:solidFill>
              </a:defRPr>
            </a:pPr>
            <a:r>
              <a:rPr sz="1050" b="1">
                <a:solidFill>
                  <a:srgbClr val="FF861C"/>
                </a:solidFill>
              </a:rPr>
              <a:t>ДВА РЕЖИМА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11D41-3E40-4341-9F73-E2004E15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2424C"/>
                </a:solidFill>
              </a:defRPr>
            </a:pPr>
            <a:r>
              <a:rPr sz="1875" b="1">
                <a:solidFill>
                  <a:srgbClr val="42424C"/>
                </a:solidFill>
              </a:rPr>
              <a:t>Без Set 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A5FEF-FCC3-4B21-80B1-6D6164A3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737C"/>
                </a:solidFill>
              </a:defRPr>
            </a:pPr>
            <a:r>
              <a:rPr sz="1425" b="0">
                <a:solidFill>
                  <a:srgbClr val="6F737C"/>
                </a:solidFill>
              </a:rPr>
              <a:t>После подключения ЭЦП доступны ограниченные «Обзор» и «Аналитика».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03E74-2FC1-4B93-9F10-662C8D41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72348-9E30-4C34-BFDC-17304AC3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2424C"/>
                </a:solidFill>
              </a:defRPr>
            </a:pPr>
            <a:r>
              <a:rPr sz="1875" b="1">
                <a:solidFill>
                  <a:srgbClr val="42424C"/>
                </a:solidFill>
              </a:rPr>
              <a:t>С Set Mark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121A0-5F76-4A03-BD0E-50FE79B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424C"/>
                </a:solidFill>
              </a:defRPr>
            </a:pPr>
            <a:r>
              <a:rPr sz="1425" b="0">
                <a:solidFill>
                  <a:srgbClr val="42424C"/>
                </a:solidFill>
              </a:rPr>
              <a:t>Доступны инциденты, причины, рекомендации и кассовая детализация.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D5714-815D-4333-8544-03553670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861C"/>
                </a:solidFill>
              </a:defRPr>
            </a:pPr>
            <a:r>
              <a:rPr sz="1425" b="1">
                <a:solidFill>
                  <a:srgbClr val="FF861C"/>
                </a:solidFill>
                <a:hlinkClick xmlns:r="http://schemas.openxmlformats.org/officeDocument/2006/relationships" r:id="R16787f6446fd425d"/>
              </a:rPr>
              <a:t>Объект продажи — коробочный Set Mark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C0B26-E110-4DDB-B4EB-47012383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66950"/>
            <a:ext cx="6457950" cy="3638550"/>
          </a:xfrm>
          <a:prstGeom xmlns:a="http://schemas.openxmlformats.org/drawingml/2006/main" prst="roundRect">
            <a:avLst>
              <a:gd name="adj" fmla="val 2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e1ff014914fbc"/>
          <a:srcRect xmlns:a="http://schemas.openxmlformats.org/drawingml/2006/main" l="0" t="886" r="0" b="8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4450" y="2343150"/>
            <a:ext cx="6305550" cy="3486150"/>
          </a:xfrm>
          <a:prstGeom xmlns:a="http://schemas.openxmlformats.org/drawingml/2006/main" prst="roundRect">
            <a:avLst>
              <a:gd name="adj" fmla="val 2186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9F20F-2A84-4E7F-9F84-95DF4640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F0C2E-5C3D-403B-AF29-EA9B3693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Коммерческий путь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340D7-C117-4DBD-8B0A-3A113A76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Только RU-клиенты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C3D85-F7C3-4107-B4E4-CCC10924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103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Ограниченный режим показывает масштаб проблемы → полная ценность открывается в Set Mark</a:t>
            </a:r>
          </a:p>
        </p:txBody>
      </p:sp>
    </p:spTree>
    <p:extLst>
      <p:ext uri="{BB962C8B-B14F-4D97-AF65-F5344CB8AC3E}">
        <p14:creationId xmlns:p14="http://schemas.microsoft.com/office/powerpoint/2010/main" val="7714954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f92faa00b4b07"/>
          <a:stretch xmlns:a="http://schemas.openxmlformats.org/drawingml/2006/main"/>
        </p:blipFill>
        <p:spPr>
          <a:xfrm xmlns:a="http://schemas.openxmlformats.org/drawingml/2006/main">
            <a:off x="865156" y="333375"/>
            <a:ext cx="1974818" cy="723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9F2D6-BF5D-4FEA-94CB-EE57AC89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76250"/>
            <a:ext cx="2505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861C"/>
                </a:solidFill>
              </a:defRPr>
            </a:pPr>
            <a:r>
              <a:rPr sz="1125" b="1">
                <a:solidFill>
                  <a:srgbClr val="FF861C"/>
                </a:solidFill>
              </a:rPr>
              <a:t>ПРОДУКТ В РАЗРАБОТКЕ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B5A197-24BE-412E-8CF5-660075DC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42424C"/>
                </a:solidFill>
              </a:defRPr>
            </a:pPr>
            <a:r>
              <a:rPr sz="3150" b="1">
                <a:solidFill>
                  <a:srgbClr val="42424C"/>
                </a:solidFill>
              </a:rPr>
              <a:t>423 новые RU-сети — проверка через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35E66-72BC-4350-A35E-95797B08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F737C"/>
                </a:solidFill>
              </a:defRPr>
            </a:pPr>
            <a:r>
              <a:rPr sz="1575" b="0">
                <a:solidFill>
                  <a:srgbClr val="6F737C"/>
                </a:solidFill>
              </a:rPr>
              <a:t>Оценочный потенциал при 80% принятии — ≈34,76 млн ₽ в год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830C5-4AA8-4013-B1BB-B6F3FB9D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861C"/>
                </a:solidFill>
              </a:defRPr>
            </a:pPr>
            <a:r>
              <a:rPr sz="1050" b="1">
                <a:solidFill>
                  <a:srgbClr val="FF861C"/>
                </a:solidFill>
              </a:rPr>
              <a:t>РЫНОК И 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11D41-3E40-4341-9F73-E2004E15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2424C"/>
                </a:solidFill>
              </a:defRPr>
            </a:pPr>
            <a:r>
              <a:rPr sz="1875" b="1">
                <a:solidFill>
                  <a:srgbClr val="42424C"/>
                </a:solidFill>
              </a:rPr>
              <a:t>515 клиентов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A5FEF-FCC3-4B21-80B1-6D6164A3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737C"/>
                </a:solidFill>
              </a:defRPr>
            </a:pPr>
            <a:r>
              <a:rPr sz="1425" b="0">
                <a:solidFill>
                  <a:srgbClr val="6F737C"/>
                </a:solidFill>
              </a:rPr>
              <a:t>активная производственная RU-база с кассовыми лицензиями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03E74-2FC1-4B93-9F10-662C8D41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72348-9E30-4C34-BFDC-17304AC3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2424C"/>
                </a:solidFill>
              </a:defRPr>
            </a:pPr>
            <a:r>
              <a:rPr sz="1875" b="1">
                <a:solidFill>
                  <a:srgbClr val="42424C"/>
                </a:solidFill>
              </a:rPr>
              <a:t>423 новые сети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121A0-5F76-4A03-BD0E-50FE79B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2424C"/>
                </a:solidFill>
              </a:defRPr>
            </a:pPr>
            <a:r>
              <a:rPr sz="1425" b="0">
                <a:solidFill>
                  <a:srgbClr val="42424C"/>
                </a:solidFill>
              </a:rPr>
              <a:t>≈6 143 магазина; текущее проникновение Set Mark — 17,9%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D5714-815D-4333-8544-03553670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861C"/>
                </a:solidFill>
              </a:defRPr>
            </a:pPr>
            <a:r>
              <a:rPr sz="1425" b="1">
                <a:solidFill>
                  <a:srgbClr val="FF861C"/>
                </a:solidFill>
                <a:hlinkClick xmlns:r="http://schemas.openxmlformats.org/officeDocument/2006/relationships" r:id="R6c1f7db0529e4f5d"/>
              </a:rPr>
              <a:t>Открыть кликабельный прототип  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C0B26-E110-4DDB-B4EB-47012383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66950"/>
            <a:ext cx="6457950" cy="3638550"/>
          </a:xfrm>
          <a:prstGeom xmlns:a="http://schemas.openxmlformats.org/drawingml/2006/main" prst="roundRect">
            <a:avLst>
              <a:gd name="adj" fmla="val 2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0b92d236041ec"/>
          <a:srcRect xmlns:a="http://schemas.openxmlformats.org/drawingml/2006/main" l="0" t="886" r="0" b="8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4450" y="2343150"/>
            <a:ext cx="6305550" cy="3486150"/>
          </a:xfrm>
          <a:prstGeom xmlns:a="http://schemas.openxmlformats.org/drawingml/2006/main" prst="roundRect">
            <a:avLst>
              <a:gd name="adj" fmla="val 2186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9F20F-2A84-4E7F-9F84-95DF4640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F0C2E-5C3D-403B-AF29-EA9B3693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Решение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340D7-C117-4DBD-8B0A-3A113A76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Продукт в разработке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C3D85-F7C3-4107-B4E4-CCC10924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103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Критерий успеха — успешный запуск функции минимум у трёх клиентов</a:t>
            </a:r>
          </a:p>
        </p:txBody>
      </p:sp>
    </p:spTree>
    <p:extLst>
      <p:ext uri="{BB962C8B-B14F-4D97-AF65-F5344CB8AC3E}">
        <p14:creationId xmlns:p14="http://schemas.microsoft.com/office/powerpoint/2010/main" val="771495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2026-09-01T17:23:07.9610000Z</dcterms:created>
  <dcterms:modified xsi:type="dcterms:W3CDTF">2026-09-01T17:23:07.9610000Z</dcterms:modified>
</coreProperties>
</file>